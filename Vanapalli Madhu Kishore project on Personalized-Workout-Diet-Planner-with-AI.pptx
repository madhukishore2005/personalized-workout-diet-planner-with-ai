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1"/>
  </p:notesMasterIdLst>
  <p:sldIdLst>
    <p:sldId id="256" r:id="rId5"/>
    <p:sldId id="2146847054" r:id="rId6"/>
    <p:sldId id="262" r:id="rId7"/>
    <p:sldId id="263" r:id="rId8"/>
    <p:sldId id="265" r:id="rId9"/>
    <p:sldId id="266" r:id="rId10"/>
    <p:sldId id="267" r:id="rId11"/>
    <p:sldId id="2146847059" r:id="rId12"/>
    <p:sldId id="2146847060" r:id="rId13"/>
    <p:sldId id="2146847061" r:id="rId14"/>
    <p:sldId id="2146847062" r:id="rId15"/>
    <p:sldId id="268" r:id="rId16"/>
    <p:sldId id="2146847055" r:id="rId17"/>
    <p:sldId id="269" r:id="rId18"/>
    <p:sldId id="2146847058"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242" autoAdjust="0"/>
  </p:normalViewPr>
  <p:slideViewPr>
    <p:cSldViewPr snapToGrid="0">
      <p:cViewPr varScale="1">
        <p:scale>
          <a:sx n="75" d="100"/>
          <a:sy n="75"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2/18/2026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2/18/2026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2/18/2026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2/18/2026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2/18/2026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2/18/2026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2/18/2026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2/18/2026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2/18/2026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2/18/2026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2/18/2026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madhukishore2005/Personalized-Workout-Diet-Planner-with-AI.git"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Personalized Workout &amp; Diet Planner with AI</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202196" y="4058588"/>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Vanapalli Madhu Kishore</a:t>
            </a:r>
          </a:p>
          <a:p>
            <a:pPr marL="457200" indent="-457200">
              <a:buAutoNum type="arabicPeriod"/>
            </a:pPr>
            <a:r>
              <a:rPr lang="en-US" sz="2000" b="1" dirty="0">
                <a:solidFill>
                  <a:schemeClr val="accent1">
                    <a:lumMod val="75000"/>
                  </a:schemeClr>
                </a:solidFill>
                <a:latin typeface="Arial"/>
                <a:cs typeface="Arial"/>
              </a:rPr>
              <a:t>College Name-  </a:t>
            </a:r>
            <a:r>
              <a:rPr lang="en-US" sz="2000" b="1" dirty="0" err="1">
                <a:solidFill>
                  <a:schemeClr val="accent1">
                    <a:lumMod val="75000"/>
                  </a:schemeClr>
                </a:solidFill>
                <a:latin typeface="Arial"/>
                <a:cs typeface="Arial"/>
              </a:rPr>
              <a:t>Seshadripuram</a:t>
            </a:r>
            <a:r>
              <a:rPr lang="en-US" sz="2000" b="1" dirty="0">
                <a:solidFill>
                  <a:schemeClr val="accent1">
                    <a:lumMod val="75000"/>
                  </a:schemeClr>
                </a:solidFill>
                <a:latin typeface="Arial"/>
                <a:cs typeface="Arial"/>
              </a:rPr>
              <a:t> Degree College</a:t>
            </a:r>
          </a:p>
          <a:p>
            <a:pPr marL="457200" indent="-457200">
              <a:buAutoNum type="arabicPeriod"/>
            </a:pPr>
            <a:r>
              <a:rPr lang="en-US" sz="2000" b="1" dirty="0">
                <a:solidFill>
                  <a:schemeClr val="accent1">
                    <a:lumMod val="75000"/>
                  </a:schemeClr>
                </a:solidFill>
                <a:latin typeface="Arial"/>
                <a:cs typeface="Arial"/>
              </a:rPr>
              <a:t>Department- BCA</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2452"/>
            <a:ext cx="11029616" cy="4825988"/>
          </a:xfrm>
        </p:spPr>
        <p:txBody>
          <a:bodyPr>
            <a:noAutofit/>
          </a:bodyPr>
          <a:lstStyle/>
          <a:p>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In today’s world, many people want to stay fit, lose weight, or gain muscle, but most fitness apps provide </a:t>
            </a:r>
            <a:r>
              <a:rPr lang="en-US" sz="1800" b="1" dirty="0">
                <a:latin typeface="Times New Roman" panose="02020603050405020304" pitchFamily="18" charset="0"/>
                <a:cs typeface="Times New Roman" panose="02020603050405020304" pitchFamily="18" charset="0"/>
              </a:rPr>
              <a:t>general plans</a:t>
            </a:r>
            <a:r>
              <a:rPr lang="en-US" sz="1800" dirty="0">
                <a:latin typeface="Times New Roman" panose="02020603050405020304" pitchFamily="18" charset="0"/>
                <a:cs typeface="Times New Roman" panose="02020603050405020304" pitchFamily="18" charset="0"/>
              </a:rPr>
              <a:t> that are not personalized to individual health conditions.</a:t>
            </a:r>
          </a:p>
          <a:p>
            <a:pPr algn="just"/>
            <a:r>
              <a:rPr lang="en-US" sz="1800" dirty="0">
                <a:latin typeface="Times New Roman" panose="02020603050405020304" pitchFamily="18" charset="0"/>
                <a:cs typeface="Times New Roman" panose="02020603050405020304" pitchFamily="18" charset="0"/>
              </a:rPr>
              <a:t>There is no proper system that combines:</a:t>
            </a:r>
          </a:p>
          <a:p>
            <a:pPr algn="just"/>
            <a:r>
              <a:rPr lang="en-US" sz="1800" dirty="0">
                <a:latin typeface="Times New Roman" panose="02020603050405020304" pitchFamily="18" charset="0"/>
                <a:cs typeface="Times New Roman" panose="02020603050405020304" pitchFamily="18" charset="0"/>
              </a:rPr>
              <a:t>BMI calculation</a:t>
            </a:r>
          </a:p>
          <a:p>
            <a:pPr algn="just"/>
            <a:r>
              <a:rPr lang="en-US" sz="1800" dirty="0">
                <a:latin typeface="Times New Roman" panose="02020603050405020304" pitchFamily="18" charset="0"/>
                <a:cs typeface="Times New Roman" panose="02020603050405020304" pitchFamily="18" charset="0"/>
              </a:rPr>
              <a:t>Activity level</a:t>
            </a:r>
          </a:p>
          <a:p>
            <a:pPr algn="just"/>
            <a:r>
              <a:rPr lang="en-US" sz="1800" dirty="0">
                <a:latin typeface="Times New Roman" panose="02020603050405020304" pitchFamily="18" charset="0"/>
                <a:cs typeface="Times New Roman" panose="02020603050405020304" pitchFamily="18" charset="0"/>
              </a:rPr>
              <a:t>Personal fitness goals</a:t>
            </a:r>
          </a:p>
          <a:p>
            <a:pPr algn="just"/>
            <a:r>
              <a:rPr lang="en-US" sz="1800" dirty="0">
                <a:latin typeface="Times New Roman" panose="02020603050405020304" pitchFamily="18" charset="0"/>
                <a:cs typeface="Times New Roman" panose="02020603050405020304" pitchFamily="18" charset="0"/>
              </a:rPr>
              <a:t>Calorie optimization</a:t>
            </a:r>
          </a:p>
          <a:p>
            <a:pPr algn="just"/>
            <a:r>
              <a:rPr lang="en-US" sz="1800" dirty="0">
                <a:latin typeface="Times New Roman" panose="02020603050405020304" pitchFamily="18" charset="0"/>
                <a:cs typeface="Times New Roman" panose="02020603050405020304" pitchFamily="18" charset="0"/>
              </a:rPr>
              <a:t>Health risk detection</a:t>
            </a:r>
          </a:p>
          <a:p>
            <a:pPr algn="just"/>
            <a:r>
              <a:rPr lang="en-US" sz="1800" dirty="0">
                <a:latin typeface="Times New Roman" panose="02020603050405020304" pitchFamily="18" charset="0"/>
                <a:cs typeface="Times New Roman" panose="02020603050405020304" pitchFamily="18" charset="0"/>
              </a:rPr>
              <a:t>Because of this, users may follow incorrect diet or workout plans that are not safe or effective for their body type.</a:t>
            </a:r>
          </a:p>
          <a:p>
            <a:pPr algn="just"/>
            <a:r>
              <a:rPr lang="en-US" sz="1800" dirty="0">
                <a:latin typeface="Times New Roman" panose="02020603050405020304" pitchFamily="18" charset="0"/>
                <a:cs typeface="Times New Roman" panose="02020603050405020304" pitchFamily="18" charset="0"/>
              </a:rPr>
              <a:t>So, we need an </a:t>
            </a:r>
            <a:r>
              <a:rPr lang="en-US" sz="1800" b="1" dirty="0">
                <a:latin typeface="Times New Roman" panose="02020603050405020304" pitchFamily="18" charset="0"/>
                <a:cs typeface="Times New Roman" panose="02020603050405020304" pitchFamily="18" charset="0"/>
              </a:rPr>
              <a:t>AI-based intelligent fitness system</a:t>
            </a:r>
            <a:r>
              <a:rPr lang="en-US" sz="1800" dirty="0">
                <a:latin typeface="Times New Roman" panose="02020603050405020304" pitchFamily="18" charset="0"/>
                <a:cs typeface="Times New Roman" panose="02020603050405020304" pitchFamily="18" charset="0"/>
              </a:rPr>
              <a:t> that can analyze a user’s health data and generate a </a:t>
            </a:r>
            <a:r>
              <a:rPr lang="en-US" sz="1800" b="1" dirty="0">
                <a:latin typeface="Times New Roman" panose="02020603050405020304" pitchFamily="18" charset="0"/>
                <a:cs typeface="Times New Roman" panose="02020603050405020304" pitchFamily="18" charset="0"/>
              </a:rPr>
              <a:t>personalized, safe, and optimized workout and diet plan</a:t>
            </a:r>
            <a:r>
              <a:rPr lang="en-US" sz="1800" dirty="0">
                <a:latin typeface="Times New Roman" panose="02020603050405020304" pitchFamily="18" charset="0"/>
                <a:cs typeface="Times New Roman" panose="02020603050405020304" pitchFamily="18" charset="0"/>
              </a:rPr>
              <a:t> automatically. </a:t>
            </a:r>
          </a:p>
          <a:p>
            <a:pPr marL="0" indent="0">
              <a:buNone/>
            </a:pPr>
            <a:r>
              <a:rPr lang="en-US" sz="1800" dirty="0"/>
              <a:t>.</a:t>
            </a:r>
            <a:endParaRPr lang="en-IN" sz="18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algn="just"/>
            <a:r>
              <a:rPr lang="en-US" sz="1600" dirty="0">
                <a:latin typeface="Times New Roman" panose="02020603050405020304" pitchFamily="18" charset="0"/>
                <a:cs typeface="Times New Roman" panose="02020603050405020304" pitchFamily="18" charset="0"/>
              </a:rPr>
              <a:t>The proposed solution is an intelligent AI-based fitness and diet planning system designed to provide fully personalized health recommendations instead of general advice. The system collects user information such as age, height, weight, activity level, and fitness goals, and then calculates important health indicators like BMI, BMR, TDEE, and target calories. Using a Random Forest machine learning model along with clustering techniques and rule-based decision logic, it classifies users into categories such as underweight, fit, or overweight. Based on this classification, it generates customized workout schedules, diet plans, macro-nutrient distributions, and weekly exercise programs.</a:t>
            </a:r>
          </a:p>
          <a:p>
            <a:pPr algn="just"/>
            <a:r>
              <a:rPr lang="en-US" sz="1600" dirty="0">
                <a:latin typeface="Times New Roman" panose="02020603050405020304" pitchFamily="18" charset="0"/>
                <a:cs typeface="Times New Roman" panose="02020603050405020304" pitchFamily="18" charset="0"/>
              </a:rPr>
              <a:t>In addition to recommendations, the system also performs health risk analysis, calorie optimization, fairness checks, and safety constraint validation to ensure that the advice is medically safe and goal-oriented. It tracks user progress, predicts future weight changes, calculates health scores, and provides confidence levels for its recommendations. The platform includes visual dashboards, KPI monitoring, interactive GUI controls, and automated PDF report generation. Overall, this solution combines machine learning, optimization, explainable AI, and health analytics into one complete, smart fitness decision system suitable for real-world and enterprise-level deployment. </a:t>
            </a:r>
          </a:p>
          <a:p>
            <a:pPr marL="0" indent="0">
              <a:buNone/>
            </a:pPr>
            <a:endParaRPr lang="en-IN" sz="16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A4477598-C448-CFA4-070F-FA38E8B7E7D6}"/>
              </a:ext>
            </a:extLst>
          </p:cNvPr>
          <p:cNvSpPr>
            <a:spLocks noGrp="1"/>
          </p:cNvSpPr>
          <p:nvPr>
            <p:ph idx="1"/>
          </p:nvPr>
        </p:nvSpPr>
        <p:spPr>
          <a:xfrm>
            <a:off x="432619" y="1337187"/>
            <a:ext cx="11641394" cy="4858241"/>
          </a:xfrm>
        </p:spPr>
        <p:txBody>
          <a:bodyPr vert="horz" lIns="91440" tIns="45720" rIns="91440" bIns="45720" rtlCol="0" anchor="ctr">
            <a:noAutofit/>
          </a:bodyPr>
          <a:lstStyle/>
          <a:p>
            <a:r>
              <a:rPr lang="en-US" sz="1600" dirty="0">
                <a:latin typeface="Times New Roman" panose="02020603050405020304" pitchFamily="18" charset="0"/>
                <a:cs typeface="Times New Roman" panose="02020603050405020304" pitchFamily="18" charset="0"/>
              </a:rPr>
              <a:t>The system follows a step-by-step intelligent approach to provide personalized fitness recommendations. First, it collects basic user details such as age, height, weight, activity level, fitness goal, and budget preference. Using this data, it calculates important health metrics like BMI, BMR (Basal Metabolic Rate), TDEE (Total Daily Energy Expenditure), and target daily calories. These calculated values help the system understand the user’s current health condition and energy requirements.</a:t>
            </a:r>
          </a:p>
          <a:p>
            <a:r>
              <a:rPr lang="en-US" sz="1600" dirty="0">
                <a:latin typeface="Times New Roman" panose="02020603050405020304" pitchFamily="18" charset="0"/>
                <a:cs typeface="Times New Roman" panose="02020603050405020304" pitchFamily="18" charset="0"/>
              </a:rPr>
              <a:t>Next, the processed data is given to a machine learning model (Random Forest Classifier) which predicts the user’s fitness category such as underweight, fit, or overweight. The system also uses clustering techniques (K-Means) to segment users into similar groups for better personalization. After classification, rule-based logic and optimization techniques are applied to generate a customized workout schedule, diet plan, weekly program, and macro-nutrient distribution based on the user’s goal.</a:t>
            </a:r>
          </a:p>
          <a:p>
            <a:r>
              <a:rPr lang="en-US" sz="1600" dirty="0">
                <a:latin typeface="Times New Roman" panose="02020603050405020304" pitchFamily="18" charset="0"/>
                <a:cs typeface="Times New Roman" panose="02020603050405020304" pitchFamily="18" charset="0"/>
              </a:rPr>
              <a:t>The system further checks for health risks, applies safety constraints, performs fairness validation, and calculates confidence scores to ensure the recommendations are reliable and safe. It tracks progress, predicts future weight changes, and visualizes results using graphs and dashboards. Finally, the system generates a complete report including health metrics and recommendations, making the entire approach intelligent, structured, transparent, and suitable for real-world application.</a:t>
            </a:r>
          </a:p>
          <a:p>
            <a:pPr marL="0" indent="0">
              <a:buNone/>
            </a:pPr>
            <a:endParaRPr lang="en-IN" sz="1600" dirty="0"/>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4" name="Content Placeholder 1">
            <a:extLst>
              <a:ext uri="{FF2B5EF4-FFF2-40B4-BE49-F238E27FC236}">
                <a16:creationId xmlns:a16="http://schemas.microsoft.com/office/drawing/2014/main" id="{1CE5E5F7-9A94-3525-4EF6-24BA57F184A2}"/>
              </a:ext>
            </a:extLst>
          </p:cNvPr>
          <p:cNvSpPr>
            <a:spLocks noGrp="1"/>
          </p:cNvSpPr>
          <p:nvPr>
            <p:ph idx="1"/>
          </p:nvPr>
        </p:nvSpPr>
        <p:spPr>
          <a:xfrm>
            <a:off x="432619" y="1337187"/>
            <a:ext cx="11641394" cy="4858241"/>
          </a:xfrm>
        </p:spPr>
        <p:txBody>
          <a:bodyPr vert="horz" lIns="91440" tIns="45720" rIns="91440" bIns="45720" rtlCol="0" anchor="ctr">
            <a:noAutofit/>
          </a:bodyPr>
          <a:lstStyle/>
          <a:p>
            <a:r>
              <a:rPr lang="en-US" sz="1600" dirty="0">
                <a:latin typeface="Times New Roman" panose="02020603050405020304" pitchFamily="18" charset="0"/>
                <a:cs typeface="Times New Roman" panose="02020603050405020304" pitchFamily="18" charset="0"/>
              </a:rPr>
              <a:t>The system uses a combination of machine learning algorithms and rule-based logic to generate intelligent fitness recommendations. The main algorithm used is the Random Forest Classifier, which analyzes features like age, BMI, activity level, and fitness goals to predict the user’s fitness category. In addition, the K-Means clustering algorithm is used to group users with similar health patterns for better personalization. After prediction, optimization algorithms adjust calorie targets and macro distribution based on goals and health scores. Safety constraints, fairness checks, and decision rules are applied to ensure medically safe and balanced recommendations.</a:t>
            </a:r>
          </a:p>
          <a:p>
            <a:r>
              <a:rPr lang="en-US" sz="1600" dirty="0">
                <a:latin typeface="Times New Roman" panose="02020603050405020304" pitchFamily="18" charset="0"/>
                <a:cs typeface="Times New Roman" panose="02020603050405020304" pitchFamily="18" charset="0"/>
              </a:rPr>
              <a:t>For deployment, the system is developed in Google </a:t>
            </a:r>
            <a:r>
              <a:rPr lang="en-US" sz="1600" dirty="0" err="1">
                <a:latin typeface="Times New Roman" panose="02020603050405020304" pitchFamily="18" charset="0"/>
                <a:cs typeface="Times New Roman" panose="02020603050405020304" pitchFamily="18" charset="0"/>
              </a:rPr>
              <a:t>Colab</a:t>
            </a:r>
            <a:r>
              <a:rPr lang="en-US" sz="1600" dirty="0">
                <a:latin typeface="Times New Roman" panose="02020603050405020304" pitchFamily="18" charset="0"/>
                <a:cs typeface="Times New Roman" panose="02020603050405020304" pitchFamily="18" charset="0"/>
              </a:rPr>
              <a:t> using Python and can be converted into a web-based application or dashboard. It includes interactive GUI components using </a:t>
            </a:r>
            <a:r>
              <a:rPr lang="en-US" sz="1600" dirty="0" err="1">
                <a:latin typeface="Times New Roman" panose="02020603050405020304" pitchFamily="18" charset="0"/>
                <a:cs typeface="Times New Roman" panose="02020603050405020304" pitchFamily="18" charset="0"/>
              </a:rPr>
              <a:t>ipywidgets</a:t>
            </a:r>
            <a:r>
              <a:rPr lang="en-US" sz="1600" dirty="0">
                <a:latin typeface="Times New Roman" panose="02020603050405020304" pitchFamily="18" charset="0"/>
                <a:cs typeface="Times New Roman" panose="02020603050405020304" pitchFamily="18" charset="0"/>
              </a:rPr>
              <a:t>, visual analytics using Matplotlib, and automated PDF report generation using </a:t>
            </a:r>
            <a:r>
              <a:rPr lang="en-US" sz="1600" dirty="0" err="1">
                <a:latin typeface="Times New Roman" panose="02020603050405020304" pitchFamily="18" charset="0"/>
                <a:cs typeface="Times New Roman" panose="02020603050405020304" pitchFamily="18" charset="0"/>
              </a:rPr>
              <a:t>ReportLab</a:t>
            </a:r>
            <a:r>
              <a:rPr lang="en-US" sz="1600" dirty="0">
                <a:latin typeface="Times New Roman" panose="02020603050405020304" pitchFamily="18" charset="0"/>
                <a:cs typeface="Times New Roman" panose="02020603050405020304" pitchFamily="18" charset="0"/>
              </a:rPr>
              <a:t>. The modular structure of the code makes it scalable, explainable, and enterprise-ready, allowing future integration with cloud platforms, mobile apps, or healthcare systems. </a:t>
            </a:r>
          </a:p>
          <a:p>
            <a:pPr marL="0" indent="0">
              <a:buNone/>
            </a:pPr>
            <a:endParaRPr lang="en-IN" sz="1600"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Picture 3">
            <a:extLst>
              <a:ext uri="{FF2B5EF4-FFF2-40B4-BE49-F238E27FC236}">
                <a16:creationId xmlns:a16="http://schemas.microsoft.com/office/drawing/2014/main" id="{7E8A7F31-B9BA-CE6E-B587-B72C26A6D7F3}"/>
              </a:ext>
            </a:extLst>
          </p:cNvPr>
          <p:cNvPicPr>
            <a:picLocks noChangeAspect="1"/>
          </p:cNvPicPr>
          <p:nvPr/>
        </p:nvPicPr>
        <p:blipFill>
          <a:blip r:embed="rId2"/>
          <a:stretch>
            <a:fillRect/>
          </a:stretch>
        </p:blipFill>
        <p:spPr>
          <a:xfrm>
            <a:off x="374474" y="1785526"/>
            <a:ext cx="5227739" cy="2776313"/>
          </a:xfrm>
          <a:prstGeom prst="rect">
            <a:avLst/>
          </a:prstGeom>
        </p:spPr>
      </p:pic>
      <p:pic>
        <p:nvPicPr>
          <p:cNvPr id="7" name="Picture 6">
            <a:extLst>
              <a:ext uri="{FF2B5EF4-FFF2-40B4-BE49-F238E27FC236}">
                <a16:creationId xmlns:a16="http://schemas.microsoft.com/office/drawing/2014/main" id="{2DC419F8-8EFE-4611-E819-D74528937F11}"/>
              </a:ext>
            </a:extLst>
          </p:cNvPr>
          <p:cNvPicPr>
            <a:picLocks noChangeAspect="1"/>
          </p:cNvPicPr>
          <p:nvPr/>
        </p:nvPicPr>
        <p:blipFill>
          <a:blip r:embed="rId3"/>
          <a:stretch>
            <a:fillRect/>
          </a:stretch>
        </p:blipFill>
        <p:spPr>
          <a:xfrm>
            <a:off x="5841968" y="1067874"/>
            <a:ext cx="5768840" cy="4519052"/>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3FC90-2585-13AD-1655-2F16F6B8F08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146815-6DE0-DA84-AADA-058DED91FA05}"/>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Picture 2">
            <a:extLst>
              <a:ext uri="{FF2B5EF4-FFF2-40B4-BE49-F238E27FC236}">
                <a16:creationId xmlns:a16="http://schemas.microsoft.com/office/drawing/2014/main" id="{D4B985DB-6330-7091-A56A-B04D2E9C4EB0}"/>
              </a:ext>
            </a:extLst>
          </p:cNvPr>
          <p:cNvPicPr>
            <a:picLocks noChangeAspect="1"/>
          </p:cNvPicPr>
          <p:nvPr/>
        </p:nvPicPr>
        <p:blipFill>
          <a:blip r:embed="rId2"/>
          <a:stretch>
            <a:fillRect/>
          </a:stretch>
        </p:blipFill>
        <p:spPr>
          <a:xfrm>
            <a:off x="289078" y="1823768"/>
            <a:ext cx="5563082" cy="4351397"/>
          </a:xfrm>
          <a:prstGeom prst="rect">
            <a:avLst/>
          </a:prstGeom>
        </p:spPr>
      </p:pic>
      <p:pic>
        <p:nvPicPr>
          <p:cNvPr id="8" name="Picture 7">
            <a:extLst>
              <a:ext uri="{FF2B5EF4-FFF2-40B4-BE49-F238E27FC236}">
                <a16:creationId xmlns:a16="http://schemas.microsoft.com/office/drawing/2014/main" id="{70913863-07D5-7362-E051-FBEA8A42C2BF}"/>
              </a:ext>
            </a:extLst>
          </p:cNvPr>
          <p:cNvPicPr>
            <a:picLocks noChangeAspect="1"/>
          </p:cNvPicPr>
          <p:nvPr/>
        </p:nvPicPr>
        <p:blipFill>
          <a:blip r:embed="rId3"/>
          <a:stretch>
            <a:fillRect/>
          </a:stretch>
        </p:blipFill>
        <p:spPr>
          <a:xfrm>
            <a:off x="5852160" y="1823768"/>
            <a:ext cx="6229618" cy="4370718"/>
          </a:xfrm>
          <a:prstGeom prst="rect">
            <a:avLst/>
          </a:prstGeom>
        </p:spPr>
      </p:pic>
    </p:spTree>
    <p:extLst>
      <p:ext uri="{BB962C8B-B14F-4D97-AF65-F5344CB8AC3E}">
        <p14:creationId xmlns:p14="http://schemas.microsoft.com/office/powerpoint/2010/main" val="312204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6D5C3-F4EF-C39C-D2CD-8EBA525725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1B533EE-2BC0-30E1-3862-E47F4B591FE9}"/>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Picture 3">
            <a:extLst>
              <a:ext uri="{FF2B5EF4-FFF2-40B4-BE49-F238E27FC236}">
                <a16:creationId xmlns:a16="http://schemas.microsoft.com/office/drawing/2014/main" id="{0C1C8B32-F1B3-CF7A-AC09-6E8D20DC22A4}"/>
              </a:ext>
            </a:extLst>
          </p:cNvPr>
          <p:cNvPicPr>
            <a:picLocks noChangeAspect="1"/>
          </p:cNvPicPr>
          <p:nvPr/>
        </p:nvPicPr>
        <p:blipFill>
          <a:blip r:embed="rId2"/>
          <a:stretch>
            <a:fillRect/>
          </a:stretch>
        </p:blipFill>
        <p:spPr>
          <a:xfrm>
            <a:off x="426229" y="1589857"/>
            <a:ext cx="5669771" cy="4206605"/>
          </a:xfrm>
          <a:prstGeom prst="rect">
            <a:avLst/>
          </a:prstGeom>
        </p:spPr>
      </p:pic>
      <p:pic>
        <p:nvPicPr>
          <p:cNvPr id="7" name="Picture 6">
            <a:extLst>
              <a:ext uri="{FF2B5EF4-FFF2-40B4-BE49-F238E27FC236}">
                <a16:creationId xmlns:a16="http://schemas.microsoft.com/office/drawing/2014/main" id="{791B62D1-E276-7B98-B07F-0CD88BE64497}"/>
              </a:ext>
            </a:extLst>
          </p:cNvPr>
          <p:cNvPicPr>
            <a:picLocks noChangeAspect="1"/>
          </p:cNvPicPr>
          <p:nvPr/>
        </p:nvPicPr>
        <p:blipFill>
          <a:blip r:embed="rId3"/>
          <a:stretch>
            <a:fillRect/>
          </a:stretch>
        </p:blipFill>
        <p:spPr>
          <a:xfrm>
            <a:off x="6866714" y="1673684"/>
            <a:ext cx="4046571" cy="4038950"/>
          </a:xfrm>
          <a:prstGeom prst="rect">
            <a:avLst/>
          </a:prstGeom>
        </p:spPr>
      </p:pic>
    </p:spTree>
    <p:extLst>
      <p:ext uri="{BB962C8B-B14F-4D97-AF65-F5344CB8AC3E}">
        <p14:creationId xmlns:p14="http://schemas.microsoft.com/office/powerpoint/2010/main" val="3793675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95B3F-2E55-6E68-AAA4-BB04EA74D5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52B3E80-2E9A-5EE9-D3BE-79D0EE6584BE}"/>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 name="Picture 2">
            <a:extLst>
              <a:ext uri="{FF2B5EF4-FFF2-40B4-BE49-F238E27FC236}">
                <a16:creationId xmlns:a16="http://schemas.microsoft.com/office/drawing/2014/main" id="{7ADDBD79-2965-C4E4-728D-12CE43A46F57}"/>
              </a:ext>
            </a:extLst>
          </p:cNvPr>
          <p:cNvPicPr>
            <a:picLocks noChangeAspect="1"/>
          </p:cNvPicPr>
          <p:nvPr/>
        </p:nvPicPr>
        <p:blipFill>
          <a:blip r:embed="rId2"/>
          <a:stretch>
            <a:fillRect/>
          </a:stretch>
        </p:blipFill>
        <p:spPr>
          <a:xfrm>
            <a:off x="238497" y="1810841"/>
            <a:ext cx="6066046" cy="4221846"/>
          </a:xfrm>
          <a:prstGeom prst="rect">
            <a:avLst/>
          </a:prstGeom>
        </p:spPr>
      </p:pic>
      <p:pic>
        <p:nvPicPr>
          <p:cNvPr id="8" name="Picture 7">
            <a:extLst>
              <a:ext uri="{FF2B5EF4-FFF2-40B4-BE49-F238E27FC236}">
                <a16:creationId xmlns:a16="http://schemas.microsoft.com/office/drawing/2014/main" id="{03C90166-EDF8-8C59-D644-DFC489AD81D7}"/>
              </a:ext>
            </a:extLst>
          </p:cNvPr>
          <p:cNvPicPr>
            <a:picLocks noChangeAspect="1"/>
          </p:cNvPicPr>
          <p:nvPr/>
        </p:nvPicPr>
        <p:blipFill>
          <a:blip r:embed="rId3"/>
          <a:stretch>
            <a:fillRect/>
          </a:stretch>
        </p:blipFill>
        <p:spPr>
          <a:xfrm>
            <a:off x="6304543" y="1833703"/>
            <a:ext cx="5662151" cy="4176122"/>
          </a:xfrm>
          <a:prstGeom prst="rect">
            <a:avLst/>
          </a:prstGeom>
        </p:spPr>
      </p:pic>
    </p:spTree>
    <p:extLst>
      <p:ext uri="{BB962C8B-B14F-4D97-AF65-F5344CB8AC3E}">
        <p14:creationId xmlns:p14="http://schemas.microsoft.com/office/powerpoint/2010/main" val="92640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93E4-1733-E94A-4EB2-4F79BCBC25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9587F0D-5887-EAD4-AFF2-FC243638ABF0}"/>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Picture 3">
            <a:extLst>
              <a:ext uri="{FF2B5EF4-FFF2-40B4-BE49-F238E27FC236}">
                <a16:creationId xmlns:a16="http://schemas.microsoft.com/office/drawing/2014/main" id="{C6367FC4-4BAA-90EE-E26F-BAD012D89995}"/>
              </a:ext>
            </a:extLst>
          </p:cNvPr>
          <p:cNvPicPr>
            <a:picLocks noChangeAspect="1"/>
          </p:cNvPicPr>
          <p:nvPr/>
        </p:nvPicPr>
        <p:blipFill>
          <a:blip r:embed="rId2"/>
          <a:stretch>
            <a:fillRect/>
          </a:stretch>
        </p:blipFill>
        <p:spPr>
          <a:xfrm>
            <a:off x="1565623" y="2654864"/>
            <a:ext cx="6622354" cy="1158340"/>
          </a:xfrm>
          <a:prstGeom prst="rect">
            <a:avLst/>
          </a:prstGeom>
        </p:spPr>
      </p:pic>
    </p:spTree>
    <p:extLst>
      <p:ext uri="{BB962C8B-B14F-4D97-AF65-F5344CB8AC3E}">
        <p14:creationId xmlns:p14="http://schemas.microsoft.com/office/powerpoint/2010/main" val="3482763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algn="just"/>
            <a:r>
              <a:rPr lang="en-US" sz="1600" dirty="0">
                <a:latin typeface="Times New Roman" panose="02020603050405020304" pitchFamily="18" charset="0"/>
                <a:cs typeface="Times New Roman" panose="02020603050405020304" pitchFamily="18" charset="0"/>
              </a:rPr>
              <a:t>In conclusion, this project shows how artificial intelligence can be effectively applied in the healthcare and fitness domain to create a smart and personalized recommendation system. Instead of giving common or generic advice, the system analyzes individual user data such as age, BMI, activity level, and fitness goals to generate customized workout and diet plans. By combining machine learning algorithms like Random Forest for prediction and K-Means for user segmentation with rule-based logic and optimization techniques, the system ensures that recommendations are both accurate and goal-oriented.</a:t>
            </a:r>
          </a:p>
          <a:p>
            <a:pPr algn="just"/>
            <a:r>
              <a:rPr lang="en-US" sz="1600" dirty="0">
                <a:latin typeface="Times New Roman" panose="02020603050405020304" pitchFamily="18" charset="0"/>
                <a:cs typeface="Times New Roman" panose="02020603050405020304" pitchFamily="18" charset="0"/>
              </a:rPr>
              <a:t>The project also focuses on safety and reliability by including health risk detection, calorie optimization, fairness checks, and constraint validation. It provides explainable outputs, confidence scores, progress tracking, and visual dashboards, making the system transparent and easy to understand. The ability to generate automated PDF reports and interactive GUI dashboards makes it practical for real-world usage. Overall, this project proves that AI can be used to build an intelligent, scalable, and enterprise-ready fitness decision platform that supports better health management and personalized care.</a:t>
            </a:r>
          </a:p>
          <a:p>
            <a:pPr marL="305435" indent="-305435"/>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3" name="Rectangle 1">
            <a:extLst>
              <a:ext uri="{FF2B5EF4-FFF2-40B4-BE49-F238E27FC236}">
                <a16:creationId xmlns:a16="http://schemas.microsoft.com/office/drawing/2014/main" id="{492C27B5-661C-411A-3F77-840266B5C712}"/>
              </a:ext>
            </a:extLst>
          </p:cNvPr>
          <p:cNvSpPr>
            <a:spLocks noGrp="1" noChangeArrowheads="1"/>
          </p:cNvSpPr>
          <p:nvPr>
            <p:ph idx="1"/>
          </p:nvPr>
        </p:nvSpPr>
        <p:spPr bwMode="auto">
          <a:xfrm>
            <a:off x="274649" y="1292403"/>
            <a:ext cx="1118583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wearable devices (smartwatches, fitness bands) for real-time heart rate, steps, and calorie tracking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of larger and real-world healthcare datasets to improve model accuracy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as a full mobile application (Android &amp; iOS)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Cloud-based storage for user history and long-term tracking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chatbot for daily motivation, reminders, and instant fitness advice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 assistant support for hands-free interaction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 consultation and medical supervision feature for high-risk users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gyms, trainers, and nutritionists for expert validation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push notifications based on user progress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predictive analytics for long-term weight and health forecasting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smart kitchen apps for calorie-based meal suggestions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Multi-language support for wider accessibility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progress comparison with similar user segments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Blockchain-based secure health data storage for privacy protection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Corporate wellness program integration for companies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 integration with hospital management systems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Gamification features like badges, rewards, and fitness challenges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model retraining to reduce bias and improve fairness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injury risk prediction and recovery planning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Expansion into a complete AI-powered digital healthcare ecosystem</a:t>
            </a:r>
          </a:p>
        </p:txBody>
      </p:sp>
    </p:spTree>
    <p:extLst>
      <p:ext uri="{BB962C8B-B14F-4D97-AF65-F5344CB8AC3E}">
        <p14:creationId xmlns:p14="http://schemas.microsoft.com/office/powerpoint/2010/main" val="61488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References</a:t>
            </a:r>
            <a:endParaRPr lang="en-US" dirty="0"/>
          </a:p>
        </p:txBody>
      </p:sp>
      <p:sp>
        <p:nvSpPr>
          <p:cNvPr id="11" name="Rectangle 3">
            <a:extLst>
              <a:ext uri="{FF2B5EF4-FFF2-40B4-BE49-F238E27FC236}">
                <a16:creationId xmlns:a16="http://schemas.microsoft.com/office/drawing/2014/main" id="{452EC343-F287-2116-720D-DC0346F3E07A}"/>
              </a:ext>
            </a:extLst>
          </p:cNvPr>
          <p:cNvSpPr>
            <a:spLocks noGrp="1" noChangeArrowheads="1"/>
          </p:cNvSpPr>
          <p:nvPr>
            <p:ph idx="1"/>
          </p:nvPr>
        </p:nvSpPr>
        <p:spPr bwMode="auto">
          <a:xfrm>
            <a:off x="581192" y="2361415"/>
            <a:ext cx="906607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Breiman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 (2001). Random Forests.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Journal</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Scikit-learn Documentation – Random Forest &amp; K-Means Algorithms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Pedregosa et al. (2011). Scikit-learn: Machine Learning in Python.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Machine Learning Research</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World Health Organization (WHO) – BMI Classification Standards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Mifflin, M.D. et al. (1990). A New Predictive Equation for Resting Energy Expenditure (BMR Formula).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Matplotlib &amp; Seaborn Official Documentation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Google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Colab</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Documentation – Python-based ML Development Platform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ReportLab</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Documentation – PDF Generation in Python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&amp; Nutrition Guidelines – National Institute of Nutrition (NIN)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Open-source Python Libraries: Pandas, NumPy Documentation</a:t>
            </a:r>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 </a:t>
            </a:r>
            <a:r>
              <a:rPr lang="en-IN" dirty="0">
                <a:hlinkClick r:id="rId2"/>
              </a:rPr>
              <a:t>https://github.com/madhukishore2005/Personalized-Workout-Diet-Planner-with-AI.git</a:t>
            </a:r>
            <a:endParaRPr lang="en-IN" dirty="0"/>
          </a:p>
        </p:txBody>
      </p:sp>
    </p:spTree>
    <p:extLst>
      <p:ext uri="{BB962C8B-B14F-4D97-AF65-F5344CB8AC3E}">
        <p14:creationId xmlns:p14="http://schemas.microsoft.com/office/powerpoint/2010/main" val="1995909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1081</TotalTime>
  <Words>1326</Words>
  <Application>Microsoft Office PowerPoint</Application>
  <PresentationFormat>Widescreen</PresentationFormat>
  <Paragraphs>81</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Franklin Gothic Book</vt:lpstr>
      <vt:lpstr>Franklin Gothic Demi</vt:lpstr>
      <vt:lpstr>Times New Roman</vt:lpstr>
      <vt:lpstr>Wingdings 2</vt:lpstr>
      <vt:lpstr>DividendVTI</vt:lpstr>
      <vt:lpstr>Personalized Workout &amp; Diet Planner with AI</vt:lpstr>
      <vt:lpstr>OUTLINE</vt:lpstr>
      <vt:lpstr>Problem Statement</vt:lpstr>
      <vt:lpstr>Proposed Solution</vt:lpstr>
      <vt:lpstr>System  Approach</vt:lpstr>
      <vt:lpstr>Algorithm &amp; Deployment</vt:lpstr>
      <vt:lpstr>Result</vt:lpstr>
      <vt:lpstr>Result</vt:lpstr>
      <vt:lpstr>Result</vt:lpstr>
      <vt:lpstr>Result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Madhukishore V</cp:lastModifiedBy>
  <cp:revision>39</cp:revision>
  <dcterms:created xsi:type="dcterms:W3CDTF">2021-05-26T16:50:10Z</dcterms:created>
  <dcterms:modified xsi:type="dcterms:W3CDTF">2026-02-18T16:14:39Z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